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35240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35240" y="0"/>
            <a:ext cx="82296" cy="6858000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66751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pt-BR">
                <a:solidFill>
                  <a:srgbClr val="B7DDD4"/>
                </a:solidFill>
                <a:latin typeface="Calibri"/>
              </a:rPr>
              <a:t>ESTUDO DE IMPACTO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60120"/>
            <a:ext cx="6766560" cy="9601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 lang="pt-BR">
                <a:solidFill>
                  <a:srgbClr val="FFFFFF"/>
                </a:solidFill>
                <a:latin typeface="Calibri"/>
              </a:rPr>
              <a:t>Opção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65960"/>
            <a:ext cx="66751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 lang="pt-BR">
                <a:solidFill>
                  <a:srgbClr val="FFFFFF"/>
                </a:solidFill>
                <a:latin typeface="Calibri"/>
              </a:rPr>
              <a:t>MIP Ipea + MIP-RS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487168"/>
            <a:ext cx="66751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lang="pt-BR">
                <a:solidFill>
                  <a:srgbClr val="D7E4EA"/>
                </a:solidFill>
                <a:latin typeface="Calibri"/>
              </a:rPr>
              <a:t>Nicotina sem fumaça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3035808"/>
            <a:ext cx="1965960" cy="32004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246120"/>
            <a:ext cx="667512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pt-BR">
                <a:solidFill>
                  <a:srgbClr val="FFFFFF"/>
                </a:solidFill>
                <a:latin typeface="Calibri"/>
              </a:rPr>
              <a:t>Santa Cruz do Sul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794760"/>
            <a:ext cx="667512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lang="pt-BR">
                <a:solidFill>
                  <a:srgbClr val="D7E4EA"/>
                </a:solidFill>
                <a:latin typeface="Calibri"/>
              </a:rPr>
              <a:t>Ano cheio 2037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224528"/>
            <a:ext cx="667512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lang="pt-BR">
                <a:solidFill>
                  <a:srgbClr val="D7E4EA"/>
                </a:solidFill>
                <a:latin typeface="Calibri"/>
              </a:rPr>
              <a:t>R$ de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654296"/>
            <a:ext cx="667512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lang="pt-BR">
                <a:solidFill>
                  <a:srgbClr val="B7DDD4"/>
                </a:solidFill>
                <a:latin typeface="Calibri"/>
              </a:rPr>
              <a:t>Outubro de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897880"/>
            <a:ext cx="667512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pt-BR">
                <a:solidFill>
                  <a:srgbClr val="D7E4EA"/>
                </a:solidFill>
                <a:latin typeface="Calibri"/>
              </a:rPr>
              <a:t>Planta de nicotina sem fumaça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0" i="0" lang="pt-BR">
                <a:solidFill>
                  <a:srgbClr val="D7E4EA"/>
                </a:solidFill>
                <a:latin typeface="Calibri"/>
              </a:rPr>
              <a:t>Philip Morris Brasil  ·  unidade já existente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777240"/>
            <a:ext cx="38862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1F7A6B"/>
                </a:solidFill>
                <a:latin typeface="Calibri"/>
              </a:rPr>
              <a:t>MOTOR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1051560"/>
            <a:ext cx="3886200" cy="12344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800" b="1" i="0" lang="pt-BR">
                <a:solidFill>
                  <a:srgbClr val="1B3A4B"/>
                </a:solidFill>
                <a:latin typeface="Calibri"/>
              </a:rPr>
              <a:t>MIP Ipea–RFB 2018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600" b="0" i="0" lang="pt-BR">
                <a:solidFill>
                  <a:srgbClr val="1B3A4B"/>
                </a:solidFill>
                <a:latin typeface="Calibri"/>
              </a:rPr>
              <a:t>27 UFs × 68 atividades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600" b="0" i="0" lang="pt-BR">
                <a:solidFill>
                  <a:srgbClr val="5C6B73"/>
                </a:solidFill>
                <a:latin typeface="Calibri"/>
              </a:rPr>
              <a:t>Notas fiscais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3568" y="2606040"/>
            <a:ext cx="38862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1F7A6B"/>
                </a:solidFill>
                <a:latin typeface="Calibri"/>
              </a:rPr>
              <a:t>CHECAGEM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2880360"/>
            <a:ext cx="3886200" cy="12344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800" b="1" i="0" lang="pt-BR">
                <a:solidFill>
                  <a:srgbClr val="1B3A4B"/>
                </a:solidFill>
                <a:latin typeface="Calibri"/>
              </a:rPr>
              <a:t>MIP-RS 2019, DEE/SPGG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600" b="0" i="0" lang="pt-BR">
                <a:solidFill>
                  <a:srgbClr val="1B3A4B"/>
                </a:solidFill>
                <a:latin typeface="Calibri"/>
              </a:rPr>
              <a:t>Mesma planta, mesmo ano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1600" b="0" i="0" lang="pt-BR">
                <a:solidFill>
                  <a:srgbClr val="5C6B73"/>
                </a:solidFill>
                <a:latin typeface="Calibri"/>
              </a:rPr>
              <a:t>Ordem de grandeza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4434840"/>
            <a:ext cx="38862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1F7A6B"/>
                </a:solidFill>
                <a:latin typeface="Calibri"/>
              </a:rPr>
              <a:t>LEITURA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8" y="4709159"/>
            <a:ext cx="3886200" cy="12344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800" b="1" i="0" lang="pt-BR">
                <a:solidFill>
                  <a:srgbClr val="1B3A4B"/>
                </a:solidFill>
                <a:latin typeface="Calibri"/>
              </a:rPr>
              <a:t>Não se somam.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600" b="0" i="0" lang="pt-BR">
                <a:solidFill>
                  <a:srgbClr val="1B3A4B"/>
                </a:solidFill>
                <a:latin typeface="Calibri"/>
              </a:rPr>
              <a:t>Mesma planta. Dois resultados.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8" y="6355080"/>
            <a:ext cx="38862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pt-BR">
                <a:solidFill>
                  <a:srgbClr val="5C6B73"/>
                </a:solidFill>
                <a:latin typeface="Calibri"/>
              </a:rPr>
              <a:t>01   /  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1F7A6B"/>
                </a:solidFill>
                <a:latin typeface="Calibri"/>
              </a:rPr>
              <a:t>OBJETO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115568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pt-BR">
                <a:solidFill>
                  <a:srgbClr val="1B3A4B"/>
                </a:solidFill>
                <a:latin typeface="Calibri"/>
              </a:rPr>
              <a:t>O que se mede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8311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73152" cy="129844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5156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pt-BR">
                <a:solidFill>
                  <a:srgbClr val="1F7A6B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280160"/>
            <a:ext cx="9509760" cy="98755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pt-BR">
                <a:solidFill>
                  <a:srgbClr val="1B3A4B"/>
                </a:solidFill>
                <a:latin typeface="Calibri"/>
              </a:rPr>
              <a:t>Operação de nicotina sem fumaça na planta já existente.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0" i="0" lang="pt-BR">
                <a:solidFill>
                  <a:srgbClr val="5C6B73"/>
                </a:solidFill>
                <a:latin typeface="Calibri"/>
              </a:rPr>
              <a:t>Santa Cruz do Sul. Philip Morris Brasil. A unidade já está de pé.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542032"/>
            <a:ext cx="1118311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542032"/>
            <a:ext cx="73152" cy="129844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98064"/>
            <a:ext cx="105156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pt-BR">
                <a:solidFill>
                  <a:srgbClr val="1F7A6B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706624"/>
            <a:ext cx="9509760" cy="98755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pt-BR">
                <a:solidFill>
                  <a:srgbClr val="1B3A4B"/>
                </a:solidFill>
                <a:latin typeface="Calibri"/>
              </a:rPr>
              <a:t>Direto da planta.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0" i="0" lang="pt-BR">
                <a:solidFill>
                  <a:srgbClr val="5C6B73"/>
                </a:solidFill>
                <a:latin typeface="Calibri"/>
              </a:rPr>
              <a:t>Valor adicionado e ocupação, uma vez, no ano cheio.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968496"/>
            <a:ext cx="1118311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968496"/>
            <a:ext cx="73152" cy="129844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224528"/>
            <a:ext cx="105156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pt-BR">
                <a:solidFill>
                  <a:srgbClr val="1F7A6B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133087"/>
            <a:ext cx="9509760" cy="98755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pt-BR">
                <a:solidFill>
                  <a:srgbClr val="1B3A4B"/>
                </a:solidFill>
                <a:latin typeface="Calibri"/>
              </a:rPr>
              <a:t>Cadeia pela NF-e.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0" i="0" lang="pt-BR">
                <a:solidFill>
                  <a:srgbClr val="5C6B73"/>
                </a:solidFill>
                <a:latin typeface="Calibri"/>
              </a:rPr>
              <a:t>Origem do insumo na oferta ao Rio Grande do Sul.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468112"/>
            <a:ext cx="11183112" cy="896112"/>
          </a:xfrm>
          <a:prstGeom prst="rect">
            <a:avLst/>
          </a:prstGeom>
          <a:solidFill>
            <a:srgbClr val="E7E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559552"/>
            <a:ext cx="10835640" cy="7132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pt-BR">
                <a:solidFill>
                  <a:srgbClr val="1B3A4B"/>
                </a:solidFill>
                <a:latin typeface="Calibri"/>
              </a:rPr>
              <a:t>Motor: MIP Ipea–RFB 2018, 27 UFs × 68 atividades, notas fiscais.  Checagem: MIP-RS 2019, DEE/SPGG.  As duas não se somam.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547104"/>
            <a:ext cx="11183112" cy="10972"/>
          </a:xfrm>
          <a:prstGeom prst="rect">
            <a:avLst/>
          </a:prstGeom>
          <a:solidFill>
            <a:srgbClr val="D5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583680"/>
            <a:ext cx="804672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pt-BR">
                <a:solidFill>
                  <a:srgbClr val="5C6B73"/>
                </a:solidFill>
                <a:latin typeface="Calibri"/>
              </a:rPr>
              <a:t>Opção 2   ·   Santa Cruz do Sul   ·   2037   ·   R$ de 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6583680"/>
            <a:ext cx="224028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pt-BR">
                <a:solidFill>
                  <a:srgbClr val="5C6B73"/>
                </a:solidFill>
                <a:latin typeface="Calibri"/>
              </a:rPr>
              <a:t>02   /  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1F7A6B"/>
                </a:solidFill>
                <a:latin typeface="Calibri"/>
              </a:rPr>
              <a:t>MANCHETE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115568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pt-BR">
                <a:solidFill>
                  <a:srgbClr val="1B3A4B"/>
                </a:solidFill>
                <a:latin typeface="Calibri"/>
              </a:rPr>
              <a:t>Tipo I no Rio Grande do Sul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356616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3566160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417320"/>
            <a:ext cx="3163824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pt-BR">
                <a:solidFill>
                  <a:srgbClr val="5C6B73"/>
                </a:solidFill>
                <a:latin typeface="Calibri"/>
              </a:rPr>
              <a:t>DIRETO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965960"/>
            <a:ext cx="3236976" cy="10515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lang="pt-BR">
                <a:solidFill>
                  <a:srgbClr val="1B3A4B"/>
                </a:solidFill>
                <a:latin typeface="Calibri"/>
              </a:rPr>
              <a:t>R$ 7,83 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246120"/>
            <a:ext cx="3163824" cy="7772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pt-BR">
                <a:solidFill>
                  <a:srgbClr val="5C6B73"/>
                </a:solidFill>
                <a:latin typeface="Calibri"/>
              </a:rPr>
              <a:t>Planta, Santa Cruz do Sul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170432"/>
            <a:ext cx="356616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170432"/>
            <a:ext cx="3566160" cy="73152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1417320"/>
            <a:ext cx="3163824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pt-BR">
                <a:solidFill>
                  <a:srgbClr val="5C6B73"/>
                </a:solidFill>
                <a:latin typeface="Calibri"/>
              </a:rPr>
              <a:t>INDIRETO NO 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1965960"/>
            <a:ext cx="3236976" cy="10515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lang="pt-BR">
                <a:solidFill>
                  <a:srgbClr val="1B3A4B"/>
                </a:solidFill>
                <a:latin typeface="Calibri"/>
              </a:rPr>
              <a:t>R$ 1,77 bi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3246120"/>
            <a:ext cx="3163824" cy="7772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pt-BR">
                <a:solidFill>
                  <a:srgbClr val="5C6B73"/>
                </a:solidFill>
                <a:latin typeface="Calibri"/>
              </a:rPr>
              <a:t>Cadeia que cai no Estado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9016" y="1170432"/>
            <a:ext cx="3566160" cy="3246120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4" y="1417320"/>
            <a:ext cx="3163824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pt-BR">
                <a:solidFill>
                  <a:srgbClr val="FFFFFF"/>
                </a:solidFill>
                <a:latin typeface="Calibri"/>
              </a:rPr>
              <a:t>TIPO I NO 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965960"/>
            <a:ext cx="3236976" cy="10515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lang="pt-BR">
                <a:solidFill>
                  <a:srgbClr val="FFFFFF"/>
                </a:solidFill>
                <a:latin typeface="Calibri"/>
              </a:rPr>
              <a:t>R$ 9,60 bi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3246120"/>
            <a:ext cx="3163824" cy="7772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pt-BR">
                <a:solidFill>
                  <a:srgbClr val="E6F2EF"/>
                </a:solidFill>
                <a:latin typeface="Calibri"/>
              </a:rPr>
              <a:t>Direto + indireto no 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617720"/>
            <a:ext cx="11183112" cy="16916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800600"/>
            <a:ext cx="49377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pt-BR">
                <a:solidFill>
                  <a:srgbClr val="B7DDD4"/>
                </a:solidFill>
                <a:latin typeface="Calibri"/>
              </a:rPr>
              <a:t>OCUPAÇÃO DIRETA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138928"/>
            <a:ext cx="493776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lang="pt-BR">
                <a:solidFill>
                  <a:srgbClr val="FFFFFF"/>
                </a:solidFill>
                <a:latin typeface="Calibri"/>
              </a:rPr>
              <a:t>4,06 mil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4937760"/>
            <a:ext cx="534924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pt-BR">
                <a:solidFill>
                  <a:srgbClr val="D7E4EA"/>
                </a:solidFill>
                <a:latin typeface="Calibri"/>
              </a:rPr>
              <a:t>Estoque do ano cheio, na planta.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600" b="0" i="0" lang="pt-BR">
                <a:solidFill>
                  <a:srgbClr val="FFFFFF"/>
                </a:solidFill>
                <a:latin typeface="Calibri"/>
              </a:rPr>
              <a:t>O induzido de R$ 0,63 bi fica fora desta soma.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47104"/>
            <a:ext cx="11183112" cy="10972"/>
          </a:xfrm>
          <a:prstGeom prst="rect">
            <a:avLst/>
          </a:prstGeom>
          <a:solidFill>
            <a:srgbClr val="D5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583680"/>
            <a:ext cx="804672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pt-BR">
                <a:solidFill>
                  <a:srgbClr val="5C6B73"/>
                </a:solidFill>
                <a:latin typeface="Calibri"/>
              </a:rPr>
              <a:t>Opção 2   ·   Santa Cruz do Sul   ·   2037   ·   R$ de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6583680"/>
            <a:ext cx="224028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pt-BR">
                <a:solidFill>
                  <a:srgbClr val="5C6B73"/>
                </a:solidFill>
                <a:latin typeface="Calibri"/>
              </a:rPr>
              <a:t>03   /  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1F7A6B"/>
                </a:solidFill>
                <a:latin typeface="Calibri"/>
              </a:rPr>
              <a:t>DUAS MATRIZES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115568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pt-BR">
                <a:solidFill>
                  <a:srgbClr val="1B3A4B"/>
                </a:solidFill>
                <a:latin typeface="Calibri"/>
              </a:rPr>
              <a:t>A mesma planta, lado a lado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3112" cy="65836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78992"/>
            <a:ext cx="1083564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pt-BR">
                <a:solidFill>
                  <a:srgbClr val="FFFFFF"/>
                </a:solidFill>
                <a:latin typeface="Calibri"/>
              </a:rPr>
              <a:t>Não se somam.  O tipo I difere cerca de 15%.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938528"/>
          <a:ext cx="11183112" cy="3154680"/>
        </p:xfrm>
        <a:graphic>
          <a:graphicData uri="http://schemas.openxmlformats.org/drawingml/2006/table">
            <a:tbl>
              <a:tblPr firstRow="0" bandRow="0" bandCol="0">
                <a:tableStyleId>{5C22544A-7EE6-4342-B048-85BDC9FD1C3A}</a:tableStyleId>
              </a:tblPr>
              <a:tblGrid>
                <a:gridCol w="4160520"/>
                <a:gridCol w="3419856"/>
                <a:gridCol w="3602736"/>
              </a:tblGrid>
              <a:tr h="63093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lang="pt-BR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128016" marR="109728" marT="36576" marB="36576">
                    <a:solidFill>
                      <a:srgbClr val="1B3A4B"/>
                    </a:solidFill>
                    <a:lnL w="6350" cap="flat" cmpd="sng" algn="ctr">
                      <a:solidFill>
                        <a:srgbClr val="E1E7EA"/>
                      </a:solidFill>
                      <a:prstDash val="solid"/>
                    </a:lnL>
                    <a:lnR w="6350" cap="flat" cmpd="sng" algn="ctr">
                      <a:solidFill>
                        <a:srgbClr val="E1E7EA"/>
                      </a:solidFill>
                      <a:prstDash val="solid"/>
                    </a:lnR>
                    <a:lnT w="6350" cap="flat" cmpd="sng" algn="ctr">
                      <a:solidFill>
                        <a:srgbClr val="E1E7EA"/>
                      </a:solidFill>
                      <a:prstDash val="solid"/>
                    </a:lnT>
                    <a:lnB w="6350" cap="flat" cmpd="sng" algn="ctr">
                      <a:solidFill>
                        <a:srgbClr val="E1E7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lang="pt-BR">
                          <a:solidFill>
                            <a:srgbClr val="FFFFFF"/>
                          </a:solidFill>
                          <a:latin typeface="Calibri"/>
                        </a:rPr>
                        <a:t>MIP Ipea</a:t>
                      </a:r>
                    </a:p>
                  </a:txBody>
                  <a:tcPr anchor="ctr" marL="128016" marR="109728" marT="36576" marB="36576">
                    <a:solidFill>
                      <a:srgbClr val="1B3A4B"/>
                    </a:solidFill>
                    <a:lnL w="6350" cap="flat" cmpd="sng" algn="ctr">
                      <a:solidFill>
                        <a:srgbClr val="E1E7EA"/>
                      </a:solidFill>
                      <a:prstDash val="solid"/>
                    </a:lnL>
                    <a:lnR w="6350" cap="flat" cmpd="sng" algn="ctr">
                      <a:solidFill>
                        <a:srgbClr val="E1E7EA"/>
                      </a:solidFill>
                      <a:prstDash val="solid"/>
                    </a:lnR>
                    <a:lnT w="6350" cap="flat" cmpd="sng" algn="ctr">
                      <a:solidFill>
                        <a:srgbClr val="E1E7EA"/>
                      </a:solidFill>
                      <a:prstDash val="solid"/>
                    </a:lnT>
                    <a:lnB w="6350" cap="flat" cmpd="sng" algn="ctr">
                      <a:solidFill>
                        <a:srgbClr val="E1E7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lang="pt-BR">
                          <a:solidFill>
                            <a:srgbClr val="FFFFFF"/>
                          </a:solidFill>
                          <a:latin typeface="Calibri"/>
                        </a:rPr>
                        <a:t>MIP-RS 2019, DEE/SPGG</a:t>
                      </a:r>
                    </a:p>
                  </a:txBody>
                  <a:tcPr anchor="ctr" marL="128016" marR="109728" marT="36576" marB="36576">
                    <a:solidFill>
                      <a:srgbClr val="1B3A4B"/>
                    </a:solidFill>
                    <a:lnL w="6350" cap="flat" cmpd="sng" algn="ctr">
                      <a:solidFill>
                        <a:srgbClr val="E1E7EA"/>
                      </a:solidFill>
                      <a:prstDash val="solid"/>
                    </a:lnL>
                    <a:lnR w="6350" cap="flat" cmpd="sng" algn="ctr">
                      <a:solidFill>
                        <a:srgbClr val="E1E7EA"/>
                      </a:solidFill>
                      <a:prstDash val="solid"/>
                    </a:lnR>
                    <a:lnT w="6350" cap="flat" cmpd="sng" algn="ctr">
                      <a:solidFill>
                        <a:srgbClr val="E1E7EA"/>
                      </a:solidFill>
                      <a:prstDash val="solid"/>
                    </a:lnT>
                    <a:lnB w="6350" cap="flat" cmpd="sng" algn="ctr">
                      <a:solidFill>
                        <a:srgbClr val="E1E7EA"/>
                      </a:solidFill>
                      <a:prstDash val="solid"/>
                    </a:lnB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pt-BR">
                          <a:solidFill>
                            <a:srgbClr val="1B3A4B"/>
                          </a:solidFill>
                          <a:latin typeface="Calibri"/>
                        </a:rPr>
                        <a:t>Direto</a:t>
                      </a:r>
                    </a:p>
                  </a:txBody>
                  <a:tcPr anchor="ctr" marL="128016" marR="109728" marT="36576" marB="36576">
                    <a:solidFill>
                      <a:srgbClr val="FFFFFF"/>
                    </a:solidFill>
                    <a:lnL w="6350" cap="flat" cmpd="sng" algn="ctr">
                      <a:solidFill>
                        <a:srgbClr val="E1E7EA"/>
                      </a:solidFill>
                      <a:prstDash val="solid"/>
                    </a:lnL>
                    <a:lnR w="6350" cap="flat" cmpd="sng" algn="ctr">
                      <a:solidFill>
                        <a:srgbClr val="E1E7EA"/>
                      </a:solidFill>
                      <a:prstDash val="solid"/>
                    </a:lnR>
                    <a:lnT w="6350" cap="flat" cmpd="sng" algn="ctr">
                      <a:solidFill>
                        <a:srgbClr val="E1E7EA"/>
                      </a:solidFill>
                      <a:prstDash val="solid"/>
                    </a:lnT>
                    <a:lnB w="6350" cap="flat" cmpd="sng" algn="ctr">
                      <a:solidFill>
                        <a:srgbClr val="E1E7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lang="pt-BR">
                          <a:solidFill>
                            <a:srgbClr val="1B3A4B"/>
                          </a:solidFill>
                          <a:latin typeface="Calibri"/>
                        </a:rPr>
                        <a:t>R$ 7,83 bi</a:t>
                      </a:r>
                    </a:p>
                  </a:txBody>
                  <a:tcPr anchor="ctr" marL="128016" marR="109728" marT="36576" marB="36576">
                    <a:solidFill>
                      <a:srgbClr val="FFFFFF"/>
                    </a:solidFill>
                    <a:lnL w="6350" cap="flat" cmpd="sng" algn="ctr">
                      <a:solidFill>
                        <a:srgbClr val="E1E7EA"/>
                      </a:solidFill>
                      <a:prstDash val="solid"/>
                    </a:lnL>
                    <a:lnR w="6350" cap="flat" cmpd="sng" algn="ctr">
                      <a:solidFill>
                        <a:srgbClr val="E1E7EA"/>
                      </a:solidFill>
                      <a:prstDash val="solid"/>
                    </a:lnR>
                    <a:lnT w="6350" cap="flat" cmpd="sng" algn="ctr">
                      <a:solidFill>
                        <a:srgbClr val="E1E7EA"/>
                      </a:solidFill>
                      <a:prstDash val="solid"/>
                    </a:lnT>
                    <a:lnB w="6350" cap="flat" cmpd="sng" algn="ctr">
                      <a:solidFill>
                        <a:srgbClr val="E1E7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lang="pt-BR">
                          <a:solidFill>
                            <a:srgbClr val="1B3A4B"/>
                          </a:solidFill>
                          <a:latin typeface="Calibri"/>
                        </a:rPr>
                        <a:t>R$ 7,83 bi</a:t>
                      </a:r>
                    </a:p>
                  </a:txBody>
                  <a:tcPr anchor="ctr" marL="128016" marR="109728" marT="36576" marB="36576">
                    <a:solidFill>
                      <a:srgbClr val="FFFFFF"/>
                    </a:solidFill>
                    <a:lnL w="6350" cap="flat" cmpd="sng" algn="ctr">
                      <a:solidFill>
                        <a:srgbClr val="E1E7EA"/>
                      </a:solidFill>
                      <a:prstDash val="solid"/>
                    </a:lnL>
                    <a:lnR w="6350" cap="flat" cmpd="sng" algn="ctr">
                      <a:solidFill>
                        <a:srgbClr val="E1E7EA"/>
                      </a:solidFill>
                      <a:prstDash val="solid"/>
                    </a:lnR>
                    <a:lnT w="6350" cap="flat" cmpd="sng" algn="ctr">
                      <a:solidFill>
                        <a:srgbClr val="E1E7EA"/>
                      </a:solidFill>
                      <a:prstDash val="solid"/>
                    </a:lnT>
                    <a:lnB w="6350" cap="flat" cmpd="sng" algn="ctr">
                      <a:solidFill>
                        <a:srgbClr val="E1E7EA"/>
                      </a:solidFill>
                      <a:prstDash val="solid"/>
                    </a:lnB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pt-BR">
                          <a:solidFill>
                            <a:srgbClr val="1B3A4B"/>
                          </a:solidFill>
                          <a:latin typeface="Calibri"/>
                        </a:rPr>
                        <a:t>Indireto no RS</a:t>
                      </a:r>
                    </a:p>
                  </a:txBody>
                  <a:tcPr anchor="ctr" marL="128016" marR="109728" marT="36576" marB="36576">
                    <a:solidFill>
                      <a:srgbClr val="FFFFFF"/>
                    </a:solidFill>
                    <a:lnL w="6350" cap="flat" cmpd="sng" algn="ctr">
                      <a:solidFill>
                        <a:srgbClr val="E1E7EA"/>
                      </a:solidFill>
                      <a:prstDash val="solid"/>
                    </a:lnL>
                    <a:lnR w="6350" cap="flat" cmpd="sng" algn="ctr">
                      <a:solidFill>
                        <a:srgbClr val="E1E7EA"/>
                      </a:solidFill>
                      <a:prstDash val="solid"/>
                    </a:lnR>
                    <a:lnT w="6350" cap="flat" cmpd="sng" algn="ctr">
                      <a:solidFill>
                        <a:srgbClr val="E1E7EA"/>
                      </a:solidFill>
                      <a:prstDash val="solid"/>
                    </a:lnT>
                    <a:lnB w="6350" cap="flat" cmpd="sng" algn="ctr">
                      <a:solidFill>
                        <a:srgbClr val="E1E7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lang="pt-BR">
                          <a:solidFill>
                            <a:srgbClr val="1B3A4B"/>
                          </a:solidFill>
                          <a:latin typeface="Calibri"/>
                        </a:rPr>
                        <a:t>R$ 1,77 bi</a:t>
                      </a:r>
                    </a:p>
                  </a:txBody>
                  <a:tcPr anchor="ctr" marL="128016" marR="109728" marT="36576" marB="36576">
                    <a:solidFill>
                      <a:srgbClr val="FFFFFF"/>
                    </a:solidFill>
                    <a:lnL w="6350" cap="flat" cmpd="sng" algn="ctr">
                      <a:solidFill>
                        <a:srgbClr val="E1E7EA"/>
                      </a:solidFill>
                      <a:prstDash val="solid"/>
                    </a:lnL>
                    <a:lnR w="6350" cap="flat" cmpd="sng" algn="ctr">
                      <a:solidFill>
                        <a:srgbClr val="E1E7EA"/>
                      </a:solidFill>
                      <a:prstDash val="solid"/>
                    </a:lnR>
                    <a:lnT w="6350" cap="flat" cmpd="sng" algn="ctr">
                      <a:solidFill>
                        <a:srgbClr val="E1E7EA"/>
                      </a:solidFill>
                      <a:prstDash val="solid"/>
                    </a:lnT>
                    <a:lnB w="6350" cap="flat" cmpd="sng" algn="ctr">
                      <a:solidFill>
                        <a:srgbClr val="E1E7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lang="pt-BR">
                          <a:solidFill>
                            <a:srgbClr val="1B3A4B"/>
                          </a:solidFill>
                          <a:latin typeface="Calibri"/>
                        </a:rPr>
                        <a:t>R$ 0,50 bi</a:t>
                      </a:r>
                    </a:p>
                  </a:txBody>
                  <a:tcPr anchor="ctr" marL="128016" marR="109728" marT="36576" marB="36576">
                    <a:solidFill>
                      <a:srgbClr val="FFFFFF"/>
                    </a:solidFill>
                    <a:lnL w="6350" cap="flat" cmpd="sng" algn="ctr">
                      <a:solidFill>
                        <a:srgbClr val="E1E7EA"/>
                      </a:solidFill>
                      <a:prstDash val="solid"/>
                    </a:lnL>
                    <a:lnR w="6350" cap="flat" cmpd="sng" algn="ctr">
                      <a:solidFill>
                        <a:srgbClr val="E1E7EA"/>
                      </a:solidFill>
                      <a:prstDash val="solid"/>
                    </a:lnR>
                    <a:lnT w="6350" cap="flat" cmpd="sng" algn="ctr">
                      <a:solidFill>
                        <a:srgbClr val="E1E7EA"/>
                      </a:solidFill>
                      <a:prstDash val="solid"/>
                    </a:lnT>
                    <a:lnB w="6350" cap="flat" cmpd="sng" algn="ctr">
                      <a:solidFill>
                        <a:srgbClr val="E1E7EA"/>
                      </a:solidFill>
                      <a:prstDash val="solid"/>
                    </a:lnB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lang="pt-BR">
                          <a:solidFill>
                            <a:srgbClr val="1B3A4B"/>
                          </a:solidFill>
                          <a:latin typeface="Calibri"/>
                        </a:rPr>
                        <a:t>Tipo I no RS</a:t>
                      </a:r>
                    </a:p>
                  </a:txBody>
                  <a:tcPr anchor="ctr" marL="128016" marR="109728" marT="36576" marB="36576">
                    <a:solidFill>
                      <a:srgbClr val="E6F2EF"/>
                    </a:solidFill>
                    <a:lnL w="6350" cap="flat" cmpd="sng" algn="ctr">
                      <a:solidFill>
                        <a:srgbClr val="E1E7EA"/>
                      </a:solidFill>
                      <a:prstDash val="solid"/>
                    </a:lnL>
                    <a:lnR w="6350" cap="flat" cmpd="sng" algn="ctr">
                      <a:solidFill>
                        <a:srgbClr val="E1E7EA"/>
                      </a:solidFill>
                      <a:prstDash val="solid"/>
                    </a:lnR>
                    <a:lnT w="6350" cap="flat" cmpd="sng" algn="ctr">
                      <a:solidFill>
                        <a:srgbClr val="E1E7EA"/>
                      </a:solidFill>
                      <a:prstDash val="solid"/>
                    </a:lnT>
                    <a:lnB w="6350" cap="flat" cmpd="sng" algn="ctr">
                      <a:solidFill>
                        <a:srgbClr val="E1E7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lang="pt-BR">
                          <a:solidFill>
                            <a:srgbClr val="1B3A4B"/>
                          </a:solidFill>
                          <a:latin typeface="Calibri"/>
                        </a:rPr>
                        <a:t>R$ 9,60 bi</a:t>
                      </a:r>
                    </a:p>
                  </a:txBody>
                  <a:tcPr anchor="ctr" marL="128016" marR="109728" marT="36576" marB="36576">
                    <a:solidFill>
                      <a:srgbClr val="E6F2EF"/>
                    </a:solidFill>
                    <a:lnL w="6350" cap="flat" cmpd="sng" algn="ctr">
                      <a:solidFill>
                        <a:srgbClr val="E1E7EA"/>
                      </a:solidFill>
                      <a:prstDash val="solid"/>
                    </a:lnL>
                    <a:lnR w="6350" cap="flat" cmpd="sng" algn="ctr">
                      <a:solidFill>
                        <a:srgbClr val="E1E7EA"/>
                      </a:solidFill>
                      <a:prstDash val="solid"/>
                    </a:lnR>
                    <a:lnT w="6350" cap="flat" cmpd="sng" algn="ctr">
                      <a:solidFill>
                        <a:srgbClr val="E1E7EA"/>
                      </a:solidFill>
                      <a:prstDash val="solid"/>
                    </a:lnT>
                    <a:lnB w="6350" cap="flat" cmpd="sng" algn="ctr">
                      <a:solidFill>
                        <a:srgbClr val="E1E7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lang="pt-BR">
                          <a:solidFill>
                            <a:srgbClr val="1B3A4B"/>
                          </a:solidFill>
                          <a:latin typeface="Calibri"/>
                        </a:rPr>
                        <a:t>R$ 8,33 bi</a:t>
                      </a:r>
                    </a:p>
                  </a:txBody>
                  <a:tcPr anchor="ctr" marL="128016" marR="109728" marT="36576" marB="36576">
                    <a:solidFill>
                      <a:srgbClr val="E6F2EF"/>
                    </a:solidFill>
                    <a:lnL w="6350" cap="flat" cmpd="sng" algn="ctr">
                      <a:solidFill>
                        <a:srgbClr val="E1E7EA"/>
                      </a:solidFill>
                      <a:prstDash val="solid"/>
                    </a:lnL>
                    <a:lnR w="6350" cap="flat" cmpd="sng" algn="ctr">
                      <a:solidFill>
                        <a:srgbClr val="E1E7EA"/>
                      </a:solidFill>
                      <a:prstDash val="solid"/>
                    </a:lnR>
                    <a:lnT w="6350" cap="flat" cmpd="sng" algn="ctr">
                      <a:solidFill>
                        <a:srgbClr val="E1E7EA"/>
                      </a:solidFill>
                      <a:prstDash val="solid"/>
                    </a:lnT>
                    <a:lnB w="6350" cap="flat" cmpd="sng" algn="ctr">
                      <a:solidFill>
                        <a:srgbClr val="E1E7EA"/>
                      </a:solidFill>
                      <a:prstDash val="solid"/>
                    </a:lnB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pt-BR">
                          <a:solidFill>
                            <a:srgbClr val="5C6B73"/>
                          </a:solidFill>
                          <a:latin typeface="Calibri"/>
                        </a:rPr>
                        <a:t>Induzido, à parte</a:t>
                      </a:r>
                    </a:p>
                  </a:txBody>
                  <a:tcPr anchor="ctr" marL="128016" marR="109728" marT="36576" marB="36576">
                    <a:solidFill>
                      <a:srgbClr val="F4F1EA"/>
                    </a:solidFill>
                    <a:lnL w="6350" cap="flat" cmpd="sng" algn="ctr">
                      <a:solidFill>
                        <a:srgbClr val="E1E7EA"/>
                      </a:solidFill>
                      <a:prstDash val="solid"/>
                    </a:lnL>
                    <a:lnR w="6350" cap="flat" cmpd="sng" algn="ctr">
                      <a:solidFill>
                        <a:srgbClr val="E1E7EA"/>
                      </a:solidFill>
                      <a:prstDash val="solid"/>
                    </a:lnR>
                    <a:lnT w="6350" cap="flat" cmpd="sng" algn="ctr">
                      <a:solidFill>
                        <a:srgbClr val="E1E7EA"/>
                      </a:solidFill>
                      <a:prstDash val="solid"/>
                    </a:lnT>
                    <a:lnB w="6350" cap="flat" cmpd="sng" algn="ctr">
                      <a:solidFill>
                        <a:srgbClr val="E1E7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lang="pt-BR">
                          <a:solidFill>
                            <a:srgbClr val="1B3A4B"/>
                          </a:solidFill>
                          <a:latin typeface="Calibri"/>
                        </a:rPr>
                        <a:t>R$ 0,63 bi</a:t>
                      </a:r>
                    </a:p>
                  </a:txBody>
                  <a:tcPr anchor="ctr" marL="128016" marR="109728" marT="36576" marB="36576">
                    <a:solidFill>
                      <a:srgbClr val="F4F1EA"/>
                    </a:solidFill>
                    <a:lnL w="6350" cap="flat" cmpd="sng" algn="ctr">
                      <a:solidFill>
                        <a:srgbClr val="E1E7EA"/>
                      </a:solidFill>
                      <a:prstDash val="solid"/>
                    </a:lnL>
                    <a:lnR w="6350" cap="flat" cmpd="sng" algn="ctr">
                      <a:solidFill>
                        <a:srgbClr val="E1E7EA"/>
                      </a:solidFill>
                      <a:prstDash val="solid"/>
                    </a:lnR>
                    <a:lnT w="6350" cap="flat" cmpd="sng" algn="ctr">
                      <a:solidFill>
                        <a:srgbClr val="E1E7EA"/>
                      </a:solidFill>
                      <a:prstDash val="solid"/>
                    </a:lnT>
                    <a:lnB w="6350" cap="flat" cmpd="sng" algn="ctr">
                      <a:solidFill>
                        <a:srgbClr val="E1E7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lang="pt-BR">
                          <a:solidFill>
                            <a:srgbClr val="1B3A4B"/>
                          </a:solidFill>
                          <a:latin typeface="Calibri"/>
                        </a:rPr>
                        <a:t>R$ 0,37 bi</a:t>
                      </a:r>
                    </a:p>
                  </a:txBody>
                  <a:tcPr anchor="ctr" marL="128016" marR="109728" marT="36576" marB="36576">
                    <a:solidFill>
                      <a:srgbClr val="F4F1EA"/>
                    </a:solidFill>
                    <a:lnL w="6350" cap="flat" cmpd="sng" algn="ctr">
                      <a:solidFill>
                        <a:srgbClr val="E1E7EA"/>
                      </a:solidFill>
                      <a:prstDash val="solid"/>
                    </a:lnL>
                    <a:lnR w="6350" cap="flat" cmpd="sng" algn="ctr">
                      <a:solidFill>
                        <a:srgbClr val="E1E7EA"/>
                      </a:solidFill>
                      <a:prstDash val="solid"/>
                    </a:lnR>
                    <a:lnT w="6350" cap="flat" cmpd="sng" algn="ctr">
                      <a:solidFill>
                        <a:srgbClr val="E1E7EA"/>
                      </a:solidFill>
                      <a:prstDash val="solid"/>
                    </a:lnT>
                    <a:lnB w="6350" cap="flat" cmpd="sng" algn="ctr">
                      <a:solidFill>
                        <a:srgbClr val="E1E7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230368"/>
            <a:ext cx="11183112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pt-BR">
                <a:solidFill>
                  <a:srgbClr val="5C6B73"/>
                </a:solidFill>
                <a:latin typeface="Calibri"/>
              </a:rPr>
              <a:t>Indireto Ipea no RS: R$ 1.772,9 mi.   Cadeia da checagem: R$ 498,9 mi.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0" i="0" lang="pt-BR">
                <a:solidFill>
                  <a:srgbClr val="5C6B73"/>
                </a:solidFill>
                <a:latin typeface="Calibri"/>
              </a:rPr>
              <a:t>Tipo I: R$ 9.602,9 mi contra R$ 8.328,9 mi.   Diferença: 15,3%.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47104"/>
            <a:ext cx="11183112" cy="10972"/>
          </a:xfrm>
          <a:prstGeom prst="rect">
            <a:avLst/>
          </a:prstGeom>
          <a:solidFill>
            <a:srgbClr val="D5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83680"/>
            <a:ext cx="804672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pt-BR">
                <a:solidFill>
                  <a:srgbClr val="5C6B73"/>
                </a:solidFill>
                <a:latin typeface="Calibri"/>
              </a:rPr>
              <a:t>Opção 2   ·   Santa Cruz do Sul   ·   2037   ·   R$ de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6583680"/>
            <a:ext cx="224028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pt-BR">
                <a:solidFill>
                  <a:srgbClr val="5C6B73"/>
                </a:solidFill>
                <a:latin typeface="Calibri"/>
              </a:rPr>
              <a:t>04   /  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1F7A6B"/>
                </a:solidFill>
                <a:latin typeface="Calibri"/>
              </a:rPr>
              <a:t>CONTEÚDO 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115568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pt-BR">
                <a:solidFill>
                  <a:srgbClr val="1B3A4B"/>
                </a:solidFill>
                <a:latin typeface="Calibri"/>
              </a:rPr>
              <a:t>Por que o indireto gaúcho é maior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68122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73152" cy="1965960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07008"/>
            <a:ext cx="63093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1F7A6B"/>
                </a:solidFill>
                <a:latin typeface="Calibri"/>
              </a:rPr>
              <a:t>NF-e  ·  INSUMOS QUE NÃO SÃO FOLHA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81328"/>
            <a:ext cx="630936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 lang="pt-BR">
                <a:solidFill>
                  <a:srgbClr val="1B3A4B"/>
                </a:solidFill>
                <a:latin typeface="Calibri"/>
              </a:rPr>
              <a:t>44,7%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63093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pt-BR">
                <a:solidFill>
                  <a:srgbClr val="5C6B73"/>
                </a:solidFill>
                <a:latin typeface="Calibri"/>
              </a:rPr>
              <a:t>Endereçados ao Rio Grande do Sul.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097280"/>
            <a:ext cx="4187952" cy="196596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9248" y="120700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5C6B73"/>
                </a:solidFill>
                <a:latin typeface="Calibri"/>
              </a:rPr>
              <a:t>HIPÓTESE MANUAL ANTIGA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1536192"/>
            <a:ext cx="384048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lang="pt-BR">
                <a:solidFill>
                  <a:srgbClr val="1B3A4B"/>
                </a:solidFill>
                <a:latin typeface="Calibri"/>
              </a:rPr>
              <a:t>9,9%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359152"/>
            <a:ext cx="38404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pt-BR">
                <a:solidFill>
                  <a:srgbClr val="5C6B73"/>
                </a:solidFill>
                <a:latin typeface="Calibri"/>
              </a:rPr>
              <a:t>Rodada anterior. Fora da conta.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18688"/>
            <a:ext cx="1115568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pt-BR">
                <a:solidFill>
                  <a:srgbClr val="1B3A4B"/>
                </a:solidFill>
                <a:latin typeface="Calibri"/>
              </a:rPr>
              <a:t>Três linhas do que a planta compra. Parcela da oferta gaúcha.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7600"/>
            <a:ext cx="67665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pt-BR">
                <a:solidFill>
                  <a:srgbClr val="1B3A4B"/>
                </a:solidFill>
                <a:latin typeface="Calibri"/>
              </a:rPr>
              <a:t>Dispositivo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3657600"/>
            <a:ext cx="21031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pt-BR">
                <a:solidFill>
                  <a:srgbClr val="1F7A6B"/>
                </a:solidFill>
                <a:latin typeface="Calibri"/>
              </a:rPr>
              <a:t>40,5%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005072"/>
            <a:ext cx="8869680" cy="146304"/>
          </a:xfrm>
          <a:prstGeom prst="rect">
            <a:avLst/>
          </a:prstGeom>
          <a:solidFill>
            <a:srgbClr val="E1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005072"/>
            <a:ext cx="3592220" cy="146304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498848"/>
            <a:ext cx="67665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pt-BR">
                <a:solidFill>
                  <a:srgbClr val="1B3A4B"/>
                </a:solidFill>
                <a:latin typeface="Calibri"/>
              </a:rPr>
              <a:t>Papel, filtro e embalagem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4498848"/>
            <a:ext cx="21031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pt-BR">
                <a:solidFill>
                  <a:srgbClr val="1F7A6B"/>
                </a:solidFill>
                <a:latin typeface="Calibri"/>
              </a:rPr>
              <a:t>61,8%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846320"/>
            <a:ext cx="8869680" cy="146304"/>
          </a:xfrm>
          <a:prstGeom prst="rect">
            <a:avLst/>
          </a:prstGeom>
          <a:solidFill>
            <a:srgbClr val="E1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846320"/>
            <a:ext cx="5481462" cy="146304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340096"/>
            <a:ext cx="67665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pt-BR">
                <a:solidFill>
                  <a:srgbClr val="1B3A4B"/>
                </a:solidFill>
                <a:latin typeface="Calibri"/>
              </a:rPr>
              <a:t>Químicos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5340096"/>
            <a:ext cx="210312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pt-BR">
                <a:solidFill>
                  <a:srgbClr val="1F7A6B"/>
                </a:solidFill>
                <a:latin typeface="Calibri"/>
              </a:rPr>
              <a:t>53,4%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687568"/>
            <a:ext cx="8869680" cy="146304"/>
          </a:xfrm>
          <a:prstGeom prst="rect">
            <a:avLst/>
          </a:prstGeom>
          <a:solidFill>
            <a:srgbClr val="E1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5687568"/>
            <a:ext cx="4736409" cy="146304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6547104"/>
            <a:ext cx="11183112" cy="10972"/>
          </a:xfrm>
          <a:prstGeom prst="rect">
            <a:avLst/>
          </a:prstGeom>
          <a:solidFill>
            <a:srgbClr val="D5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583680"/>
            <a:ext cx="804672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pt-BR">
                <a:solidFill>
                  <a:srgbClr val="5C6B73"/>
                </a:solidFill>
                <a:latin typeface="Calibri"/>
              </a:rPr>
              <a:t>Opção 2   ·   Santa Cruz do Sul   ·   2037   ·   R$ de 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6583680"/>
            <a:ext cx="224028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pt-BR">
                <a:solidFill>
                  <a:srgbClr val="5C6B73"/>
                </a:solidFill>
                <a:latin typeface="Calibri"/>
              </a:rPr>
              <a:t>05   /  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1F7A6B"/>
                </a:solidFill>
                <a:latin typeface="Calibri"/>
              </a:rPr>
              <a:t>DESTINO DO INSUMO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115568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pt-BR">
                <a:solidFill>
                  <a:srgbClr val="1B3A4B"/>
                </a:solidFill>
                <a:latin typeface="Calibri"/>
              </a:rPr>
              <a:t>Para onde vai o insumo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3611880" cy="4983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3611880" cy="73152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17320"/>
            <a:ext cx="32004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pt-BR">
                <a:solidFill>
                  <a:srgbClr val="1B3A4B"/>
                </a:solidFill>
                <a:latin typeface="Calibri"/>
              </a:rPr>
              <a:t>Rio Grande do Sul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94560"/>
            <a:ext cx="32004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5C6B73"/>
                </a:solidFill>
                <a:latin typeface="Calibri"/>
              </a:rPr>
              <a:t>COMPRA ENDEREÇADA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468880"/>
            <a:ext cx="32004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lang="pt-BR">
                <a:solidFill>
                  <a:srgbClr val="1B3A4B"/>
                </a:solidFill>
                <a:latin typeface="Calibri"/>
              </a:rPr>
              <a:t>R$ 3,57 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337560"/>
            <a:ext cx="32004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5C6B73"/>
                </a:solidFill>
                <a:latin typeface="Calibri"/>
              </a:rPr>
              <a:t>VALOR ADICIONADO INDIRETO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611880"/>
            <a:ext cx="32004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lang="pt-BR">
                <a:solidFill>
                  <a:srgbClr val="1F7A6B"/>
                </a:solidFill>
                <a:latin typeface="Calibri"/>
              </a:rPr>
              <a:t>R$ 1,77 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617720"/>
            <a:ext cx="320040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pt-BR">
                <a:solidFill>
                  <a:srgbClr val="5C6B73"/>
                </a:solidFill>
                <a:latin typeface="Calibri"/>
              </a:rPr>
              <a:t>O que a NF-e coloca no Estado e o valor que a matriz gera aqui.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170432"/>
            <a:ext cx="3840480" cy="4983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170432"/>
            <a:ext cx="3840480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1417320"/>
            <a:ext cx="347472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pt-BR">
                <a:solidFill>
                  <a:srgbClr val="1B3A4B"/>
                </a:solidFill>
                <a:latin typeface="Calibri"/>
              </a:rPr>
              <a:t>Resto do Brasil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240280"/>
            <a:ext cx="34747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5C6B73"/>
                </a:solidFill>
                <a:latin typeface="Calibri"/>
              </a:rPr>
              <a:t>VALOR ADICIONADO INDIRETO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743200"/>
            <a:ext cx="347472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lang="pt-BR">
                <a:solidFill>
                  <a:srgbClr val="1B3A4B"/>
                </a:solidFill>
                <a:latin typeface="Calibri"/>
              </a:rPr>
              <a:t>R$ 3,38 bi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3794760"/>
            <a:ext cx="347472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pt-BR">
                <a:solidFill>
                  <a:srgbClr val="5C6B73"/>
                </a:solidFill>
                <a:latin typeface="Calibri"/>
              </a:rPr>
              <a:t>Vazamento medido. A compra sai do RS e a matriz segue o efeito.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 lang="pt-BR">
                <a:solidFill>
                  <a:srgbClr val="1B3A4B"/>
                </a:solidFill>
                <a:latin typeface="Calibri"/>
              </a:rPr>
              <a:t>São Paulo concentra R$ 1,14 bi.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1170432"/>
            <a:ext cx="3364992" cy="4983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1170432"/>
            <a:ext cx="3364992" cy="73152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22208" y="1417320"/>
            <a:ext cx="2971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pt-BR">
                <a:solidFill>
                  <a:srgbClr val="1B3A4B"/>
                </a:solidFill>
                <a:latin typeface="Calibri"/>
              </a:rPr>
              <a:t>Folha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1874519"/>
            <a:ext cx="2971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pt-BR">
                <a:solidFill>
                  <a:srgbClr val="5C6B73"/>
                </a:solidFill>
                <a:latin typeface="Calibri"/>
              </a:rPr>
              <a:t>Preço de porteira. Sul.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2514600"/>
            <a:ext cx="10058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pt-BR">
                <a:solidFill>
                  <a:srgbClr val="1F7A6B"/>
                </a:solidFill>
                <a:latin typeface="Calibri"/>
              </a:rPr>
              <a:t>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514600"/>
            <a:ext cx="20574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pt-BR">
                <a:solidFill>
                  <a:srgbClr val="1B3A4B"/>
                </a:solidFill>
                <a:latin typeface="Calibri"/>
              </a:rPr>
              <a:t>R$ 52,8 mi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8" y="3081528"/>
            <a:ext cx="10058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pt-BR">
                <a:solidFill>
                  <a:srgbClr val="1F7A6B"/>
                </a:solidFill>
                <a:latin typeface="Calibri"/>
              </a:rPr>
              <a:t>SC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3081528"/>
            <a:ext cx="20574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pt-BR">
                <a:solidFill>
                  <a:srgbClr val="1B3A4B"/>
                </a:solidFill>
                <a:latin typeface="Calibri"/>
              </a:rPr>
              <a:t>R$ 33,0 mi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2208" y="3648456"/>
            <a:ext cx="10058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pt-BR">
                <a:solidFill>
                  <a:srgbClr val="1F7A6B"/>
                </a:solidFill>
                <a:latin typeface="Calibri"/>
              </a:rPr>
              <a:t>PR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648456"/>
            <a:ext cx="20574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pt-BR">
                <a:solidFill>
                  <a:srgbClr val="1B3A4B"/>
                </a:solidFill>
                <a:latin typeface="Calibri"/>
              </a:rPr>
              <a:t>R$ 28,4 mi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8" y="4389120"/>
            <a:ext cx="2971800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pt-BR">
                <a:solidFill>
                  <a:srgbClr val="5C6B73"/>
                </a:solidFill>
                <a:latin typeface="Calibri"/>
              </a:rPr>
              <a:t>A folha de SC e do PR não entra na agricultura gaúcha.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547104"/>
            <a:ext cx="11183112" cy="10972"/>
          </a:xfrm>
          <a:prstGeom prst="rect">
            <a:avLst/>
          </a:prstGeom>
          <a:solidFill>
            <a:srgbClr val="D5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583680"/>
            <a:ext cx="804672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pt-BR">
                <a:solidFill>
                  <a:srgbClr val="5C6B73"/>
                </a:solidFill>
                <a:latin typeface="Calibri"/>
              </a:rPr>
              <a:t>Opção 2   ·   Santa Cruz do Sul   ·   2037   ·   R$ de 2025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6583680"/>
            <a:ext cx="224028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pt-BR">
                <a:solidFill>
                  <a:srgbClr val="5C6B73"/>
                </a:solidFill>
                <a:latin typeface="Calibri"/>
              </a:rPr>
              <a:t>06   /  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1F7A6B"/>
                </a:solidFill>
                <a:latin typeface="Calibri"/>
              </a:rPr>
              <a:t>FORA DA SOMA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115568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pt-BR">
                <a:solidFill>
                  <a:srgbClr val="1B3A4B"/>
                </a:solidFill>
                <a:latin typeface="Calibri"/>
              </a:rPr>
              <a:t>O que não entra na manchete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8311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91440" cy="15544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39319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pt-BR">
                <a:solidFill>
                  <a:srgbClr val="5C6B73"/>
                </a:solidFill>
                <a:latin typeface="Calibri"/>
              </a:rPr>
              <a:t>RECEITA EX-FÁBRICA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484632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pt-BR">
                <a:solidFill>
                  <a:srgbClr val="1B3A4B"/>
                </a:solidFill>
                <a:latin typeface="Calibri"/>
              </a:rPr>
              <a:t>R$ 15,83 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444752"/>
            <a:ext cx="5532120" cy="10515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pt-BR">
                <a:solidFill>
                  <a:srgbClr val="1B3A4B"/>
                </a:solidFill>
                <a:latin typeface="Calibri"/>
              </a:rPr>
              <a:t>Não é o choque. É o teto contábil da planta. A coluna de fumo da matriz recebe zero.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871216"/>
            <a:ext cx="1118311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871216"/>
            <a:ext cx="91440" cy="1554480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72384"/>
            <a:ext cx="39319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pt-BR">
                <a:solidFill>
                  <a:srgbClr val="5C6B73"/>
                </a:solidFill>
                <a:latin typeface="Calibri"/>
              </a:rPr>
              <a:t>INDUZIDO, UMA RODADA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38144"/>
            <a:ext cx="484632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pt-BR">
                <a:solidFill>
                  <a:srgbClr val="1B3A4B"/>
                </a:solidFill>
                <a:latin typeface="Calibri"/>
              </a:rPr>
              <a:t>Ipea  R$ 0,63 bi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3145536"/>
            <a:ext cx="5532120" cy="10515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pt-BR">
                <a:solidFill>
                  <a:srgbClr val="1B3A4B"/>
                </a:solidFill>
                <a:latin typeface="Calibri"/>
              </a:rPr>
              <a:t>MIP-RS  R$ 0,37 bi.   À parte. Não entra na manchete do tipo 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572000"/>
            <a:ext cx="1118311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572000"/>
            <a:ext cx="91440" cy="15544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773168"/>
            <a:ext cx="39319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pt-BR">
                <a:solidFill>
                  <a:srgbClr val="5C6B73"/>
                </a:solidFill>
                <a:latin typeface="Calibri"/>
              </a:rPr>
              <a:t>OBRA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138928"/>
            <a:ext cx="484632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pt-BR">
                <a:solidFill>
                  <a:srgbClr val="1B3A4B"/>
                </a:solidFill>
                <a:latin typeface="Calibri"/>
              </a:rPr>
              <a:t>2026–2027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4846320"/>
            <a:ext cx="5532120" cy="10515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pt-BR">
                <a:solidFill>
                  <a:srgbClr val="1B3A4B"/>
                </a:solidFill>
                <a:latin typeface="Calibri"/>
              </a:rPr>
              <a:t>Bloco separado. Não se soma ao ano cheio de 2037.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47104"/>
            <a:ext cx="11183112" cy="10972"/>
          </a:xfrm>
          <a:prstGeom prst="rect">
            <a:avLst/>
          </a:prstGeom>
          <a:solidFill>
            <a:srgbClr val="D5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583680"/>
            <a:ext cx="804672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pt-BR">
                <a:solidFill>
                  <a:srgbClr val="5C6B73"/>
                </a:solidFill>
                <a:latin typeface="Calibri"/>
              </a:rPr>
              <a:t>Opção 2   ·   Santa Cruz do Sul   ·   2037   ·   R$ de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6583680"/>
            <a:ext cx="224028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pt-BR">
                <a:solidFill>
                  <a:srgbClr val="5C6B73"/>
                </a:solidFill>
                <a:latin typeface="Calibri"/>
              </a:rPr>
              <a:t>07   /  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1F7A6B"/>
                </a:solidFill>
                <a:latin typeface="Calibri"/>
              </a:rPr>
              <a:t>OBRA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115568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pt-BR">
                <a:solidFill>
                  <a:srgbClr val="1B3A4B"/>
                </a:solidFill>
                <a:latin typeface="Calibri"/>
              </a:rPr>
              <a:t>Conversão da planta, 2026–2027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3112" cy="566928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78992"/>
            <a:ext cx="1083564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pt-BR">
                <a:solidFill>
                  <a:srgbClr val="1B3A4B"/>
                </a:solidFill>
                <a:latin typeface="Calibri"/>
              </a:rPr>
              <a:t>Bloco separado.  Não se soma a 2037.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47088"/>
            <a:ext cx="54864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47088"/>
            <a:ext cx="5486400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29968"/>
            <a:ext cx="50292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pt-BR">
                <a:solidFill>
                  <a:srgbClr val="5C6B73"/>
                </a:solidFill>
                <a:latin typeface="Calibri"/>
              </a:rPr>
              <a:t>CAPEX DE CONVERSÃO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59152"/>
            <a:ext cx="502920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lang="pt-BR">
                <a:solidFill>
                  <a:srgbClr val="1B3A4B"/>
                </a:solidFill>
                <a:latin typeface="Calibri"/>
              </a:rPr>
              <a:t>R$ 1,63 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50292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pt-BR">
                <a:solidFill>
                  <a:srgbClr val="5C6B73"/>
                </a:solidFill>
                <a:latin typeface="Calibri"/>
              </a:rPr>
              <a:t>Na conta: R$ 1.634,7 mi.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847088"/>
            <a:ext cx="5513832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847088"/>
            <a:ext cx="5513832" cy="73152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029968"/>
            <a:ext cx="50292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pt-BR">
                <a:solidFill>
                  <a:srgbClr val="5C6B73"/>
                </a:solidFill>
                <a:latin typeface="Calibri"/>
              </a:rPr>
              <a:t>VALOR ADICIONADO DA OBRA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59152"/>
            <a:ext cx="502920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lang="pt-BR">
                <a:solidFill>
                  <a:srgbClr val="1F7A6B"/>
                </a:solidFill>
                <a:latin typeface="Calibri"/>
              </a:rPr>
              <a:t>R$ 342 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91840"/>
            <a:ext cx="50292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pt-BR">
                <a:solidFill>
                  <a:srgbClr val="5C6B73"/>
                </a:solidFill>
                <a:latin typeface="Calibri"/>
              </a:rPr>
              <a:t>Na conta: R$ 341,8 mi.  MIP-RS 2019, DEE/SPGG.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370832"/>
            <a:ext cx="3611880" cy="1920240"/>
          </a:xfrm>
          <a:prstGeom prst="rect">
            <a:avLst/>
          </a:prstGeom>
          <a:solidFill>
            <a:srgbClr val="E7E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4498848"/>
            <a:ext cx="32918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5C6B73"/>
                </a:solidFill>
                <a:latin typeface="Calibri"/>
              </a:rPr>
              <a:t>MÁQUINAS IMPORTADAS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4809744"/>
            <a:ext cx="32918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pt-BR">
                <a:solidFill>
                  <a:srgbClr val="1B3A4B"/>
                </a:solidFill>
                <a:latin typeface="Calibri"/>
              </a:rPr>
              <a:t>R$ 1.150,8 mi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5394960"/>
            <a:ext cx="329184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pt-BR">
                <a:solidFill>
                  <a:srgbClr val="5C6B73"/>
                </a:solidFill>
                <a:latin typeface="Calibri"/>
              </a:rPr>
              <a:t>Fora do choque.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88536" y="4370832"/>
            <a:ext cx="3611880" cy="1920240"/>
          </a:xfrm>
          <a:prstGeom prst="rect">
            <a:avLst/>
          </a:prstGeom>
          <a:solidFill>
            <a:srgbClr val="E7E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53127" y="4498848"/>
            <a:ext cx="32918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5C6B73"/>
                </a:solidFill>
                <a:latin typeface="Calibri"/>
              </a:rPr>
              <a:t>PARCELA GAÚCHA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7" y="4809744"/>
            <a:ext cx="32918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pt-BR">
                <a:solidFill>
                  <a:srgbClr val="1B3A4B"/>
                </a:solidFill>
                <a:latin typeface="Calibri"/>
              </a:rPr>
              <a:t>R$ 483,9 mi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3127" y="5394960"/>
            <a:ext cx="329184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pt-BR">
                <a:solidFill>
                  <a:srgbClr val="5C6B73"/>
                </a:solidFill>
                <a:latin typeface="Calibri"/>
              </a:rPr>
              <a:t>Obra civil, montagem e engenharia.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74151" y="4370832"/>
            <a:ext cx="3611880" cy="1920240"/>
          </a:xfrm>
          <a:prstGeom prst="rect">
            <a:avLst/>
          </a:prstGeom>
          <a:solidFill>
            <a:srgbClr val="E7E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38743" y="4498848"/>
            <a:ext cx="32918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5C6B73"/>
                </a:solidFill>
                <a:latin typeface="Calibri"/>
              </a:rPr>
              <a:t>ONDE A CONTA FOI FEITA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8743" y="4809744"/>
            <a:ext cx="32918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pt-BR">
                <a:solidFill>
                  <a:srgbClr val="1B3A4B"/>
                </a:solidFill>
                <a:latin typeface="Calibri"/>
              </a:rPr>
              <a:t>MIP-RS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8743" y="5394960"/>
            <a:ext cx="329184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pt-BR">
                <a:solidFill>
                  <a:srgbClr val="5C6B73"/>
                </a:solidFill>
                <a:latin typeface="Calibri"/>
              </a:rPr>
              <a:t>Não foi reestimada na matriz Ipea.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547104"/>
            <a:ext cx="11183112" cy="10972"/>
          </a:xfrm>
          <a:prstGeom prst="rect">
            <a:avLst/>
          </a:prstGeom>
          <a:solidFill>
            <a:srgbClr val="D5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583680"/>
            <a:ext cx="804672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pt-BR">
                <a:solidFill>
                  <a:srgbClr val="5C6B73"/>
                </a:solidFill>
                <a:latin typeface="Calibri"/>
              </a:rPr>
              <a:t>Opção 2   ·   Santa Cruz do Sul   ·   2037   ·   R$ de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6583680"/>
            <a:ext cx="224028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pt-BR">
                <a:solidFill>
                  <a:srgbClr val="5C6B73"/>
                </a:solidFill>
                <a:latin typeface="Calibri"/>
              </a:rPr>
              <a:t>08   /  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1F7A6B"/>
                </a:solidFill>
                <a:latin typeface="Calibri"/>
              </a:rPr>
              <a:t>RETORNO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115568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pt-BR">
                <a:solidFill>
                  <a:srgbClr val="1B3A4B"/>
                </a:solidFill>
                <a:latin typeface="Calibri"/>
              </a:rPr>
              <a:t>Fiscal de referência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0704"/>
            <a:ext cx="11183112" cy="5303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60704"/>
            <a:ext cx="10835640" cy="53035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pt-BR">
                <a:solidFill>
                  <a:srgbClr val="FFFFFF"/>
                </a:solidFill>
                <a:latin typeface="Calibri"/>
              </a:rPr>
              <a:t>Referência, não benefício concedido.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92224"/>
            <a:ext cx="2724912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920240"/>
            <a:ext cx="246888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5C6B73"/>
                </a:solidFill>
                <a:latin typeface="Calibri"/>
              </a:rPr>
              <a:t>BASE ESTADUAL E MUNICIPAL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2487168"/>
            <a:ext cx="246888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pt-BR">
                <a:solidFill>
                  <a:srgbClr val="1B3A4B"/>
                </a:solidFill>
                <a:latin typeface="Calibri"/>
              </a:rPr>
              <a:t>R$ 480 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3310128"/>
            <a:ext cx="246888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pt-BR">
                <a:solidFill>
                  <a:srgbClr val="5C6B73"/>
                </a:solidFill>
                <a:latin typeface="Calibri"/>
              </a:rPr>
              <a:t>Antes da hipótese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92424" y="1792224"/>
            <a:ext cx="2724912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920240"/>
            <a:ext cx="246888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5C6B73"/>
                </a:solidFill>
                <a:latin typeface="Calibri"/>
              </a:rPr>
              <a:t>FUNDOPEM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487168"/>
            <a:ext cx="246888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pt-BR">
                <a:solidFill>
                  <a:srgbClr val="1B3A4B"/>
                </a:solidFill>
                <a:latin typeface="Calibri"/>
              </a:rPr>
              <a:t>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310128"/>
            <a:ext cx="246888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pt-BR">
                <a:solidFill>
                  <a:srgbClr val="5C6B73"/>
                </a:solidFill>
                <a:latin typeface="Calibri"/>
              </a:rPr>
              <a:t>por 96 meses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81928" y="1792224"/>
            <a:ext cx="2724912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1920240"/>
            <a:ext cx="246888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5C6B73"/>
                </a:solidFill>
                <a:latin typeface="Calibri"/>
              </a:rPr>
              <a:t>LÍQUIDO DE CAIXA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2487168"/>
            <a:ext cx="246888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pt-BR">
                <a:solidFill>
                  <a:srgbClr val="1B3A4B"/>
                </a:solidFill>
                <a:latin typeface="Calibri"/>
              </a:rPr>
              <a:t>R$ 336 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3310128"/>
            <a:ext cx="246888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pt-BR">
                <a:solidFill>
                  <a:srgbClr val="5C6B73"/>
                </a:solidFill>
                <a:latin typeface="Calibri"/>
              </a:rPr>
              <a:t>enquanto vigora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71432" y="1792224"/>
            <a:ext cx="2724912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9448" y="1920240"/>
            <a:ext cx="246888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5C6B73"/>
                </a:solidFill>
                <a:latin typeface="Calibri"/>
              </a:rPr>
              <a:t>RENÚNCIA PERMANENTE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9448" y="2487168"/>
            <a:ext cx="246888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pt-BR">
                <a:solidFill>
                  <a:srgbClr val="1B3A4B"/>
                </a:solidFill>
                <a:latin typeface="Calibri"/>
              </a:rPr>
              <a:t>Zero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3310128"/>
            <a:ext cx="246888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pt-BR">
                <a:solidFill>
                  <a:srgbClr val="5C6B73"/>
                </a:solidFill>
                <a:latin typeface="Calibri"/>
              </a:rPr>
              <a:t>não é benefício permanente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315968"/>
            <a:ext cx="1118311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315968"/>
            <a:ext cx="91440" cy="12344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462272"/>
            <a:ext cx="67665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pt-BR">
                <a:solidFill>
                  <a:srgbClr val="5C6B73"/>
                </a:solidFill>
                <a:latin typeface="Calibri"/>
              </a:rPr>
              <a:t>IRPJ / CSLL  ·  FEDERAL, FORA DO RETORNO DO 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773168"/>
            <a:ext cx="502920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lang="pt-BR">
                <a:solidFill>
                  <a:srgbClr val="1B3A4B"/>
                </a:solidFill>
                <a:latin typeface="Calibri"/>
              </a:rPr>
              <a:t>R$ 1,23 bi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526280"/>
            <a:ext cx="521208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pt-BR">
                <a:solidFill>
                  <a:srgbClr val="1B3A4B"/>
                </a:solidFill>
                <a:latin typeface="Calibri"/>
              </a:rPr>
              <a:t>Imposto da planta. Não entra no retorno estadual e municipal.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669280"/>
            <a:ext cx="11183112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pt-BR">
                <a:solidFill>
                  <a:srgbClr val="5C6B73"/>
                </a:solidFill>
                <a:latin typeface="Calibri"/>
              </a:rPr>
              <a:t>Hipótese de financiamento de 30% do ICMS incremental do consumo no RS, por 96 meses, sem INTEGRAR. O incentivo não foi concedido.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547104"/>
            <a:ext cx="11183112" cy="10972"/>
          </a:xfrm>
          <a:prstGeom prst="rect">
            <a:avLst/>
          </a:prstGeom>
          <a:solidFill>
            <a:srgbClr val="D5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583680"/>
            <a:ext cx="804672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pt-BR">
                <a:solidFill>
                  <a:srgbClr val="5C6B73"/>
                </a:solidFill>
                <a:latin typeface="Calibri"/>
              </a:rPr>
              <a:t>Opção 2   ·   Santa Cruz do Sul   ·   2037   ·   R$ de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6583680"/>
            <a:ext cx="224028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pt-BR">
                <a:solidFill>
                  <a:srgbClr val="5C6B73"/>
                </a:solidFill>
                <a:latin typeface="Calibri"/>
              </a:rPr>
              <a:t>09   /  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1F7A6B"/>
                </a:solidFill>
                <a:latin typeface="Calibri"/>
              </a:rPr>
              <a:t>MAPA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115568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pt-BR">
                <a:solidFill>
                  <a:srgbClr val="1B3A4B"/>
                </a:solidFill>
                <a:latin typeface="Calibri"/>
              </a:rPr>
              <a:t>Valor adicionado por transbordamento</a:t>
            </a:r>
          </a:p>
        </p:txBody>
      </p:sp>
      <p:pic>
        <p:nvPicPr>
          <p:cNvPr id="5" name="Picture 4" descr="mapa_transbordamento_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15568"/>
            <a:ext cx="6807780" cy="5230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74708" y="1170432"/>
            <a:ext cx="4451531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1F7A6B"/>
                </a:solidFill>
                <a:latin typeface="Calibri"/>
              </a:rPr>
              <a:t>NO MAPA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74708" y="1444752"/>
            <a:ext cx="4451531" cy="7772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lang="pt-BR">
                <a:solidFill>
                  <a:srgbClr val="1B3A4B"/>
                </a:solidFill>
                <a:latin typeface="Calibri"/>
              </a:rPr>
              <a:t>R$ 2,40 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74708" y="2267712"/>
            <a:ext cx="4451531" cy="7772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pt-BR">
                <a:solidFill>
                  <a:srgbClr val="5C6B73"/>
                </a:solidFill>
                <a:latin typeface="Calibri"/>
              </a:rPr>
              <a:t>Indireto Ipea no RS mais o induzido. R$ 2.400,7 mi na conta.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74708" y="3154680"/>
            <a:ext cx="4451531" cy="13716"/>
          </a:xfrm>
          <a:prstGeom prst="rect">
            <a:avLst/>
          </a:prstGeom>
          <a:solidFill>
            <a:srgbClr val="D5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74708" y="3291840"/>
            <a:ext cx="4451531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1F7A6B"/>
                </a:solidFill>
                <a:latin typeface="Calibri"/>
              </a:rPr>
              <a:t>LEGENDA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74708" y="3611880"/>
            <a:ext cx="4451531" cy="1417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pt-BR">
                <a:solidFill>
                  <a:srgbClr val="1B3A4B"/>
                </a:solidFill>
                <a:latin typeface="Calibri"/>
              </a:rPr>
              <a:t>Cinza: sem mancha.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600" b="1" i="0" lang="pt-BR">
                <a:solidFill>
                  <a:srgbClr val="1B3A4B"/>
                </a:solidFill>
                <a:latin typeface="Calibri"/>
              </a:rPr>
              <a:t>Azul escuro: alto.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4708" y="5074920"/>
            <a:ext cx="4451531" cy="123444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84436" y="5193792"/>
            <a:ext cx="4232075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pt-BR">
                <a:solidFill>
                  <a:srgbClr val="1B3A4B"/>
                </a:solidFill>
                <a:latin typeface="Calibri"/>
              </a:rPr>
              <a:t>Direto de R$ 7,83 bi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500" b="1" i="0" lang="pt-BR">
                <a:solidFill>
                  <a:srgbClr val="1B3A4B"/>
                </a:solidFill>
                <a:latin typeface="Calibri"/>
              </a:rPr>
              <a:t>fora da cor.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47104"/>
            <a:ext cx="11183112" cy="10972"/>
          </a:xfrm>
          <a:prstGeom prst="rect">
            <a:avLst/>
          </a:prstGeom>
          <a:solidFill>
            <a:srgbClr val="D5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83680"/>
            <a:ext cx="804672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pt-BR">
                <a:solidFill>
                  <a:srgbClr val="5C6B73"/>
                </a:solidFill>
                <a:latin typeface="Calibri"/>
              </a:rPr>
              <a:t>Opção 2   ·   Santa Cruz do Sul   ·   2037   ·   R$ de 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6583680"/>
            <a:ext cx="224028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pt-BR">
                <a:solidFill>
                  <a:srgbClr val="5C6B73"/>
                </a:solidFill>
                <a:latin typeface="Calibri"/>
              </a:rPr>
              <a:t>10   /  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1F7A6B"/>
                </a:solidFill>
                <a:latin typeface="Calibri"/>
              </a:rPr>
              <a:t>VALE DO RIO PARDO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115568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pt-BR">
                <a:solidFill>
                  <a:srgbClr val="1B3A4B"/>
                </a:solidFill>
                <a:latin typeface="Calibri"/>
              </a:rPr>
              <a:t>Onde o transbordamento se concentra</a:t>
            </a:r>
          </a:p>
        </p:txBody>
      </p:sp>
      <p:pic>
        <p:nvPicPr>
          <p:cNvPr id="5" name="Picture 4" descr="mapa_vale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15568"/>
            <a:ext cx="5399089" cy="5230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75161" y="1115568"/>
            <a:ext cx="5869366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1F7A6B"/>
                </a:solidFill>
                <a:latin typeface="Calibri"/>
              </a:rPr>
              <a:t>COREDE VALE DO RIO PARDO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75161" y="1371600"/>
            <a:ext cx="5869366" cy="9601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 lang="pt-BR">
                <a:solidFill>
                  <a:srgbClr val="1B3A4B"/>
                </a:solidFill>
                <a:latin typeface="Calibri"/>
              </a:rPr>
              <a:t>26,8%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75161" y="2377440"/>
            <a:ext cx="5869366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pt-BR">
                <a:solidFill>
                  <a:srgbClr val="1B3A4B"/>
                </a:solidFill>
                <a:latin typeface="Calibri"/>
              </a:rPr>
              <a:t>23 municípios.  R$ 644 mi dos R$ 2,40 bi.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75161" y="3154680"/>
            <a:ext cx="5869366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1465" y="3246120"/>
            <a:ext cx="5595046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5C6B73"/>
                </a:solidFill>
                <a:latin typeface="Calibri"/>
              </a:rPr>
              <a:t>SANTA CRUZ DO SUL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1465" y="3520440"/>
            <a:ext cx="5595046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pt-BR">
                <a:solidFill>
                  <a:srgbClr val="1B3A4B"/>
                </a:solidFill>
                <a:latin typeface="Calibri"/>
              </a:rPr>
              <a:t>R$ 458 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1465" y="4041648"/>
            <a:ext cx="5595046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pt-BR">
                <a:solidFill>
                  <a:srgbClr val="5C6B73"/>
                </a:solidFill>
                <a:latin typeface="Calibri"/>
              </a:rPr>
              <a:t>Só o transbordamento.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75161" y="4645152"/>
            <a:ext cx="5869366" cy="164592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1465" y="4773168"/>
            <a:ext cx="5576758" cy="138988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pt-BR">
                <a:solidFill>
                  <a:srgbClr val="1B3A4B"/>
                </a:solidFill>
                <a:latin typeface="Calibri"/>
              </a:rPr>
              <a:t>O direto de R$ 7,83 bi continua fora da cor.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0" i="0" lang="pt-BR">
                <a:solidFill>
                  <a:srgbClr val="1B3A4B"/>
                </a:solidFill>
                <a:latin typeface="Calibri"/>
              </a:rPr>
              <a:t>O azul da sede não é a planta. É salário, serviço e cadeia.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47104"/>
            <a:ext cx="11183112" cy="10972"/>
          </a:xfrm>
          <a:prstGeom prst="rect">
            <a:avLst/>
          </a:prstGeom>
          <a:solidFill>
            <a:srgbClr val="D5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583680"/>
            <a:ext cx="804672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pt-BR">
                <a:solidFill>
                  <a:srgbClr val="5C6B73"/>
                </a:solidFill>
                <a:latin typeface="Calibri"/>
              </a:rPr>
              <a:t>Opção 2   ·   Santa Cruz do Sul   ·   2037   ·   R$ de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6583680"/>
            <a:ext cx="224028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pt-BR">
                <a:solidFill>
                  <a:srgbClr val="5C6B73"/>
                </a:solidFill>
                <a:latin typeface="Calibri"/>
              </a:rPr>
              <a:t>11   /  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1F7A6B"/>
                </a:solidFill>
                <a:latin typeface="Calibri"/>
              </a:rPr>
              <a:t>LEITURA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115568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pt-BR">
                <a:solidFill>
                  <a:srgbClr val="1B3A4B"/>
                </a:solidFill>
                <a:latin typeface="Calibri"/>
              </a:rPr>
              <a:t>Como ler o mapa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83112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426464"/>
            <a:ext cx="96012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pt-BR">
                <a:solidFill>
                  <a:srgbClr val="1F7A6B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371600"/>
            <a:ext cx="9601200" cy="11887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pt-BR">
                <a:solidFill>
                  <a:srgbClr val="1B3A4B"/>
                </a:solidFill>
                <a:latin typeface="Calibri"/>
              </a:rPr>
              <a:t>A sede fica forte porque o salário mora ali.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600" b="0" i="0" lang="pt-BR">
                <a:solidFill>
                  <a:srgbClr val="5C6B73"/>
                </a:solidFill>
                <a:latin typeface="Calibri"/>
              </a:rPr>
              <a:t>91,3% da massa residencial modelada está em Santa Cruz do Sul. O azul da sede é transbordamento, R$ 458 mi.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89504"/>
            <a:ext cx="11183112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145536"/>
            <a:ext cx="96012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pt-BR">
                <a:solidFill>
                  <a:srgbClr val="1F7A6B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3090672"/>
            <a:ext cx="9601200" cy="11887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pt-BR">
                <a:solidFill>
                  <a:srgbClr val="1B3A4B"/>
                </a:solidFill>
                <a:latin typeface="Calibri"/>
              </a:rPr>
              <a:t>Metrópole e Serra são fornecedor.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600" b="0" i="0" lang="pt-BR">
                <a:solidFill>
                  <a:srgbClr val="5C6B73"/>
                </a:solidFill>
                <a:latin typeface="Calibri"/>
              </a:rPr>
              <a:t>Porto Alegre, Caxias do Sul, Eldorado do Sul, Gravataí e Canoas. Eletrônico, papel e máquina elétrica.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608576"/>
            <a:ext cx="11183112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864608"/>
            <a:ext cx="96012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pt-BR">
                <a:solidFill>
                  <a:srgbClr val="1F7A6B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4809744"/>
            <a:ext cx="9601200" cy="11887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pt-BR">
                <a:solidFill>
                  <a:srgbClr val="1B3A4B"/>
                </a:solidFill>
                <a:latin typeface="Calibri"/>
              </a:rPr>
              <a:t>A folha é mancha leve.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600" b="0" i="0" lang="pt-BR">
                <a:solidFill>
                  <a:srgbClr val="5C6B73"/>
                </a:solidFill>
                <a:latin typeface="Calibri"/>
              </a:rPr>
              <a:t>R$ 58,6 mi de valor adicionado agrícola, dentro dos R$ 2,40 bi do mapa.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47104"/>
            <a:ext cx="11183112" cy="10972"/>
          </a:xfrm>
          <a:prstGeom prst="rect">
            <a:avLst/>
          </a:prstGeom>
          <a:solidFill>
            <a:srgbClr val="D5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83680"/>
            <a:ext cx="804672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pt-BR">
                <a:solidFill>
                  <a:srgbClr val="5C6B73"/>
                </a:solidFill>
                <a:latin typeface="Calibri"/>
              </a:rPr>
              <a:t>Opção 2   ·   Santa Cruz do Sul   ·   2037   ·   R$ de 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6583680"/>
            <a:ext cx="224028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pt-BR">
                <a:solidFill>
                  <a:srgbClr val="5C6B73"/>
                </a:solidFill>
                <a:latin typeface="Calibri"/>
              </a:rPr>
              <a:t>12   /  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1F7A6B"/>
                </a:solidFill>
                <a:latin typeface="Calibri"/>
              </a:rPr>
              <a:t>LIMITES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115568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pt-BR">
                <a:solidFill>
                  <a:srgbClr val="1B3A4B"/>
                </a:solidFill>
                <a:latin typeface="Calibri"/>
              </a:rPr>
              <a:t>O que esta conta não resolve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8311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15568"/>
            <a:ext cx="868680" cy="12070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pt-BR">
                <a:solidFill>
                  <a:srgbClr val="1F7A6B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225295"/>
            <a:ext cx="9784080" cy="98755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pt-BR">
                <a:solidFill>
                  <a:srgbClr val="1B3A4B"/>
                </a:solidFill>
                <a:latin typeface="Calibri"/>
              </a:rPr>
              <a:t>BOM ainda estimado.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500" b="0" i="0" lang="pt-BR">
                <a:solidFill>
                  <a:srgbClr val="5C6B73"/>
                </a:solidFill>
                <a:latin typeface="Calibri"/>
              </a:rPr>
              <a:t>Dispositivo, papel e químicos são engenharia de porte, não a nota fiscal da planta.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14015"/>
            <a:ext cx="1118311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14015"/>
            <a:ext cx="868680" cy="12070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pt-BR">
                <a:solidFill>
                  <a:srgbClr val="1F7A6B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523744"/>
            <a:ext cx="9784080" cy="98755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pt-BR">
                <a:solidFill>
                  <a:srgbClr val="1B3A4B"/>
                </a:solidFill>
                <a:latin typeface="Calibri"/>
              </a:rPr>
              <a:t>A origem é a NF-e de 2018.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500" b="0" i="0" lang="pt-BR">
                <a:solidFill>
                  <a:srgbClr val="5C6B73"/>
                </a:solidFill>
                <a:latin typeface="Calibri"/>
              </a:rPr>
              <a:t>Mede a oferta média ao Rio Grande do Sul, não o caderno de compras desta fábrica.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12463"/>
            <a:ext cx="1118311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12463"/>
            <a:ext cx="868680" cy="12070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pt-BR">
                <a:solidFill>
                  <a:srgbClr val="1F7A6B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822191"/>
            <a:ext cx="9784080" cy="98755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pt-BR">
                <a:solidFill>
                  <a:srgbClr val="1B3A4B"/>
                </a:solidFill>
                <a:latin typeface="Calibri"/>
              </a:rPr>
              <a:t>O mapa reparte o total estadual.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500" b="0" i="0" lang="pt-BR">
                <a:solidFill>
                  <a:srgbClr val="5C6B73"/>
                </a:solidFill>
                <a:latin typeface="Calibri"/>
              </a:rPr>
              <a:t>Não estima ρ. A soma dos municípios é o total já calculado para o 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010912"/>
            <a:ext cx="11183112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010912"/>
            <a:ext cx="868680" cy="12070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pt-BR">
                <a:solidFill>
                  <a:srgbClr val="1F7A6B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120640"/>
            <a:ext cx="9784080" cy="98755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pt-BR">
                <a:solidFill>
                  <a:srgbClr val="1B3A4B"/>
                </a:solidFill>
                <a:latin typeface="Calibri"/>
              </a:rPr>
              <a:t>O incentivo não está contratado.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500" b="0" i="0" lang="pt-BR">
                <a:solidFill>
                  <a:srgbClr val="5C6B73"/>
                </a:solidFill>
                <a:latin typeface="Calibri"/>
              </a:rPr>
              <a:t>O fiscal é hipótese de referência. Não é benefício concedido.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47104"/>
            <a:ext cx="11183112" cy="10972"/>
          </a:xfrm>
          <a:prstGeom prst="rect">
            <a:avLst/>
          </a:prstGeom>
          <a:solidFill>
            <a:srgbClr val="D5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83680"/>
            <a:ext cx="804672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pt-BR">
                <a:solidFill>
                  <a:srgbClr val="5C6B73"/>
                </a:solidFill>
                <a:latin typeface="Calibri"/>
              </a:rPr>
              <a:t>Opção 2   ·   Santa Cruz do Sul   ·   2037   ·   R$ de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6583680"/>
            <a:ext cx="224028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pt-BR">
                <a:solidFill>
                  <a:srgbClr val="5C6B73"/>
                </a:solidFill>
                <a:latin typeface="Calibri"/>
              </a:rPr>
              <a:t>13   /  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5156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pt-BR">
                <a:solidFill>
                  <a:srgbClr val="B7DDD4"/>
                </a:solidFill>
                <a:latin typeface="Calibri"/>
              </a:rPr>
              <a:t>ENCERRAMENTO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lang="pt-BR">
                <a:solidFill>
                  <a:srgbClr val="FFFFFF"/>
                </a:solidFill>
                <a:latin typeface="Calibri"/>
              </a:rPr>
              <a:t>O que levar da sala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3520440" cy="2880360"/>
          </a:xfrm>
          <a:prstGeom prst="rect">
            <a:avLst/>
          </a:prstGeom>
          <a:solidFill>
            <a:srgbClr val="24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3520440" cy="73152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965960"/>
            <a:ext cx="3127248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pt-BR">
                <a:solidFill>
                  <a:srgbClr val="B7DDD4"/>
                </a:solidFill>
                <a:latin typeface="Calibri"/>
              </a:rPr>
              <a:t>TIPO I NO 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606040"/>
            <a:ext cx="320040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lang="pt-BR">
                <a:solidFill>
                  <a:srgbClr val="FFFFFF"/>
                </a:solidFill>
                <a:latin typeface="Calibri"/>
              </a:rPr>
              <a:t>R$ 9,60 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566160"/>
            <a:ext cx="3127248" cy="6858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pt-BR">
                <a:solidFill>
                  <a:srgbClr val="D7E4EA"/>
                </a:solidFill>
                <a:latin typeface="Calibri"/>
              </a:rPr>
              <a:t>Direto mais indireto no Estado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691640"/>
            <a:ext cx="3520440" cy="2880360"/>
          </a:xfrm>
          <a:prstGeom prst="rect">
            <a:avLst/>
          </a:prstGeom>
          <a:solidFill>
            <a:srgbClr val="24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91640"/>
            <a:ext cx="3520440" cy="73152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965960"/>
            <a:ext cx="3127248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pt-BR">
                <a:solidFill>
                  <a:srgbClr val="B7DDD4"/>
                </a:solidFill>
                <a:latin typeface="Calibri"/>
              </a:rPr>
              <a:t>TRANSBORDAMENTO NO MAPA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606040"/>
            <a:ext cx="320040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lang="pt-BR">
                <a:solidFill>
                  <a:srgbClr val="FFFFFF"/>
                </a:solidFill>
                <a:latin typeface="Calibri"/>
              </a:rPr>
              <a:t>R$ 2,40 bi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3566160"/>
            <a:ext cx="3127248" cy="6858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pt-BR">
                <a:solidFill>
                  <a:srgbClr val="D7E4EA"/>
                </a:solidFill>
                <a:latin typeface="Calibri"/>
              </a:rPr>
              <a:t>Indireto Ipea mais induzido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691640"/>
            <a:ext cx="3520440" cy="2880360"/>
          </a:xfrm>
          <a:prstGeom prst="rect">
            <a:avLst/>
          </a:prstGeom>
          <a:solidFill>
            <a:srgbClr val="24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91640"/>
            <a:ext cx="3520440" cy="73152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965960"/>
            <a:ext cx="3127248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pt-BR">
                <a:solidFill>
                  <a:srgbClr val="B7DDD4"/>
                </a:solidFill>
                <a:latin typeface="Calibri"/>
              </a:rPr>
              <a:t>CHECAGEM MIP-RS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2606040"/>
            <a:ext cx="320040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lang="pt-BR">
                <a:solidFill>
                  <a:srgbClr val="FFFFFF"/>
                </a:solidFill>
                <a:latin typeface="Calibri"/>
              </a:rPr>
              <a:t>R$ 8,33 bi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3566160"/>
            <a:ext cx="3127248" cy="6858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pt-BR">
                <a:solidFill>
                  <a:srgbClr val="D7E4EA"/>
                </a:solidFill>
                <a:latin typeface="Calibri"/>
              </a:rPr>
              <a:t>Mesma planta. Tipo 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46320"/>
            <a:ext cx="1097280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pt-BR">
                <a:solidFill>
                  <a:srgbClr val="FFFFFF"/>
                </a:solidFill>
                <a:latin typeface="Calibri"/>
              </a:rPr>
              <a:t>As duas matrizes não se somam.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0" i="0" lang="pt-BR">
                <a:solidFill>
                  <a:srgbClr val="D7E4EA"/>
                </a:solidFill>
                <a:latin typeface="Calibri"/>
              </a:rPr>
              <a:t>Santa Cruz do Sul   ·   ano cheio 2037   ·   R$ de 2025   ·   outubro de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6446520"/>
            <a:ext cx="22860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pt-BR">
                <a:solidFill>
                  <a:srgbClr val="9AB0B8"/>
                </a:solidFill>
                <a:latin typeface="Calibri"/>
              </a:rPr>
              <a:t>14   / 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Opção 2 — MIP Ipea + MIP-RS — Santa Cruz do Sul, 2037</dc:title>
  <dc:subject>Estudo de impacto da operação de nicotina sem fumaça. R$ de 2025. Outubro de 2026.</dc:subject>
  <dc:creator>Estudo de impacto — Opção 2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Estudo de impacto</cp:category>
  <dc:language>pt-BR</dc:language>
</cp:coreProperties>
</file>